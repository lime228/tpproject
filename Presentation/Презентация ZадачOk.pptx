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99" r:id="rId3"/>
    <p:sldId id="257" r:id="rId4"/>
    <p:sldId id="290" r:id="rId5"/>
    <p:sldId id="300" r:id="rId6"/>
    <p:sldId id="261" r:id="rId7"/>
    <p:sldId id="285" r:id="rId8"/>
    <p:sldId id="286" r:id="rId9"/>
    <p:sldId id="287" r:id="rId10"/>
    <p:sldId id="288" r:id="rId11"/>
    <p:sldId id="289" r:id="rId12"/>
    <p:sldId id="304" r:id="rId13"/>
    <p:sldId id="294" r:id="rId14"/>
    <p:sldId id="295" r:id="rId15"/>
    <p:sldId id="296" r:id="rId16"/>
    <p:sldId id="297" r:id="rId17"/>
    <p:sldId id="298" r:id="rId18"/>
    <p:sldId id="262" r:id="rId19"/>
  </p:sldIdLst>
  <p:sldSz cx="9144000" cy="5143500" type="screen16x9"/>
  <p:notesSz cx="6858000" cy="9144000"/>
  <p:embeddedFontLst>
    <p:embeddedFont>
      <p:font typeface="Barlow Light" panose="00000400000000000000" pitchFamily="2" charset="0"/>
      <p:regular r:id="rId21"/>
      <p:bold r:id="rId22"/>
      <p:italic r:id="rId23"/>
      <p:boldItalic r:id="rId24"/>
    </p:embeddedFont>
    <p:embeddedFont>
      <p:font typeface="Barlow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065CFF-0479-4DF6-A662-3959B2AC70BA}">
  <a:tblStyle styleId="{2B065CFF-0479-4DF6-A662-3959B2AC70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5255" autoAdjust="0"/>
  </p:normalViewPr>
  <p:slideViewPr>
    <p:cSldViewPr snapToGrid="0">
      <p:cViewPr varScale="1">
        <p:scale>
          <a:sx n="107" d="100"/>
          <a:sy n="107" d="100"/>
        </p:scale>
        <p:origin x="59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"/>
          <c:dPt>
            <c:idx val="0"/>
            <c:bubble3D val="0"/>
            <c:explosion val="1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90-4735-B46E-A750769A857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FD90-4735-B46E-A750769A85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D90-4735-B46E-A750769A857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D90-4735-B46E-A750769A8575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31E77242-C284-4C05-9850-69F39679BE04}" type="CATEGORYNAME">
                      <a:rPr lang="ru-RU" sz="2300" baseline="0"/>
                      <a:pPr>
                        <a:defRPr/>
                      </a:pPr>
                      <a:t>[ИМЯ КАТЕГОРИИ]</a:t>
                    </a:fld>
                    <a:r>
                      <a:rPr lang="ru-RU" sz="2300" baseline="0" dirty="0"/>
                      <a:t>
</a:t>
                    </a:r>
                    <a:fld id="{C048D950-3843-4B44-BEBD-D61C504F5CBB}" type="PERCENTAGE">
                      <a:rPr lang="ru-RU" sz="2300" baseline="0"/>
                      <a:pPr>
                        <a:defRPr/>
                      </a:pPr>
                      <a:t>[ПРОЦЕНТ]</a:t>
                    </a:fld>
                    <a:endParaRPr lang="ru-RU" sz="23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FD90-4735-B46E-A750769A8575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33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EB5F4D73-680C-4DA0-9570-C69865878F05}" type="CATEGORYNAME">
                      <a:rPr lang="ru-RU" sz="230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ru-RU" sz="2300" baseline="0" dirty="0"/>
                      <a:t>
</a:t>
                    </a:r>
                    <a:fld id="{EF81B5EE-545C-427C-B2A4-9EB302182063}" type="PERCENTAGE">
                      <a:rPr lang="ru-RU" sz="2300" baseline="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[ПРОЦЕНТ]</a:t>
                    </a:fld>
                    <a:endParaRPr lang="ru-RU" sz="2300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FD90-4735-B46E-A750769A8575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FD90-4735-B46E-A750769A857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FD90-4735-B46E-A750769A8575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2"/>
                <c:pt idx="0">
                  <c:v>Да</c:v>
                </c:pt>
                <c:pt idx="1">
                  <c:v>Нет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64.400000000000006</c:v>
                </c:pt>
                <c:pt idx="1">
                  <c:v>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90-4735-B46E-A750769A8575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59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0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33-4BCE-A1ED-5E05A13BB33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7133-4BCE-A1ED-5E05A13BB33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33-4BCE-A1ED-5E05A13BB33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133-4BCE-A1ED-5E05A13BB33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133-4BCE-A1ED-5E05A13BB334}"/>
                </c:ext>
              </c:extLst>
            </c:dLbl>
            <c:dLbl>
              <c:idx val="1"/>
              <c:layout>
                <c:manualLayout>
                  <c:x val="3.8216589183483491E-3"/>
                  <c:y val="0.1927382782723290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702934515341095"/>
                      <c:h val="0.2701985813770203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133-4BCE-A1ED-5E05A13BB334}"/>
                </c:ext>
              </c:extLst>
            </c:dLbl>
            <c:dLbl>
              <c:idx val="2"/>
              <c:layout>
                <c:manualLayout>
                  <c:x val="-7.543646581146507E-2"/>
                  <c:y val="-1.86126435742063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690264179785157"/>
                      <c:h val="0.391260352200932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133-4BCE-A1ED-5E05A13BB334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7133-4BCE-A1ED-5E05A13BB334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3"/>
                <c:pt idx="0">
                  <c:v>Все делаю во время</c:v>
                </c:pt>
                <c:pt idx="1">
                  <c:v>Иногда забываю</c:v>
                </c:pt>
                <c:pt idx="2">
                  <c:v>Забываю чаще, чем вспоминаю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14.6</c:v>
                </c:pt>
                <c:pt idx="1">
                  <c:v>78.599999999999994</c:v>
                </c:pt>
                <c:pt idx="2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133-4BCE-A1ED-5E05A13BB334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76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 baseline="0"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"/>
          <c:dPt>
            <c:idx val="0"/>
            <c:bubble3D val="0"/>
            <c:explosion val="10"/>
            <c:spPr>
              <a:solidFill>
                <a:schemeClr val="accent2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3F2-40B5-8E5D-B176BB8D7203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83F2-40B5-8E5D-B176BB8D720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3F2-40B5-8E5D-B176BB8D720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3F2-40B5-8E5D-B176BB8D7203}"/>
              </c:ext>
            </c:extLst>
          </c:dPt>
          <c:dLbls>
            <c:dLbl>
              <c:idx val="0"/>
              <c:layout>
                <c:manualLayout>
                  <c:x val="1.5881374386644148E-3"/>
                  <c:y val="-6.5633922918900758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400" b="1" i="0" u="none" strike="noStrike" kern="1200" spc="0" baseline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CC6C78C-12D3-4CD4-9963-088E94529AFA}" type="CATEGORYNAME">
                      <a:rPr lang="ru-RU" baseline="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2"/>
                          </a:solidFill>
                        </a:defRPr>
                      </a:pPr>
                      <a:t>[ИМЯ КАТЕГОРИИ]</a:t>
                    </a:fld>
                    <a:r>
                      <a:rPr lang="ru-RU" baseline="0">
                        <a:solidFill>
                          <a:schemeClr val="accent2"/>
                        </a:solidFill>
                      </a:rPr>
                      <a:t>
</a:t>
                    </a:r>
                    <a:fld id="{CDB1D740-152C-4D3A-8E98-892F52B5A09F}" type="PERCENTAGE">
                      <a:rPr lang="ru-RU" baseline="0">
                        <a:solidFill>
                          <a:schemeClr val="accent2"/>
                        </a:solidFill>
                      </a:rPr>
                      <a:pPr>
                        <a:defRPr>
                          <a:solidFill>
                            <a:schemeClr val="accent2"/>
                          </a:solidFill>
                        </a:defRPr>
                      </a:pPr>
                      <a:t>[ПРОЦЕНТ]</a:t>
                    </a:fld>
                    <a:endParaRPr lang="ru-RU" baseline="0">
                      <a:solidFill>
                        <a:schemeClr val="accent2"/>
                      </a:solidFill>
                    </a:endParaRPr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3F2-40B5-8E5D-B176BB8D7203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2400" b="1" i="0" u="none" strike="noStrike" kern="1200" spc="0" baseline="0">
                        <a:solidFill>
                          <a:schemeClr val="accent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AA19826-E823-4401-A10C-81A3A060333B}" type="CATEGORYNAME">
                      <a:rPr lang="ru-RU" baseline="0">
                        <a:solidFill>
                          <a:schemeClr val="accent1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[ИМЯ КАТЕГОРИИ]</a:t>
                    </a:fld>
                    <a:r>
                      <a:rPr lang="ru-RU" baseline="0">
                        <a:solidFill>
                          <a:schemeClr val="accent1"/>
                        </a:solidFill>
                      </a:rPr>
                      <a:t>
</a:t>
                    </a:r>
                    <a:fld id="{C33F4999-1CD3-4B9D-B05D-053ABAE86799}" type="PERCENTAGE">
                      <a:rPr lang="ru-RU" baseline="0">
                        <a:solidFill>
                          <a:schemeClr val="accent1"/>
                        </a:solidFill>
                      </a:rPr>
                      <a:pPr>
                        <a:defRPr>
                          <a:solidFill>
                            <a:schemeClr val="accent1"/>
                          </a:solidFill>
                        </a:defRPr>
                      </a:pPr>
                      <a:t>[ПРОЦЕНТ]</a:t>
                    </a:fld>
                    <a:endParaRPr lang="ru-RU" baseline="0">
                      <a:solidFill>
                        <a:schemeClr val="accent1"/>
                      </a:solidFill>
                    </a:endParaRPr>
                  </a:p>
                </c:rich>
              </c:tx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83F2-40B5-8E5D-B176BB8D7203}"/>
                </c:ext>
              </c:extLst>
            </c:dLbl>
            <c:dLbl>
              <c:idx val="2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83F2-40B5-8E5D-B176BB8D7203}"/>
                </c:ext>
              </c:extLst>
            </c:dLbl>
            <c:dLbl>
              <c:idx val="3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83F2-40B5-8E5D-B176BB8D7203}"/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spc="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2"/>
                <c:pt idx="0">
                  <c:v>Нет</c:v>
                </c:pt>
                <c:pt idx="1">
                  <c:v>Да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87.6</c:v>
                </c:pt>
                <c:pt idx="1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3F2-40B5-8E5D-B176BB8D7203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18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 baseline="0"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Вы договариваетесь о распределении обязанностей </c:v>
                </c:pt>
              </c:strCache>
            </c:strRef>
          </c:tx>
          <c:spPr>
            <a:effectLst/>
          </c:spPr>
          <c:explosion val="10"/>
          <c:dPt>
            <c:idx val="0"/>
            <c:bubble3D val="0"/>
            <c:explosion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F4-4B27-921D-33E61599E33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0"/>
              </a:effectLst>
            </c:spPr>
            <c:extLst>
              <c:ext xmlns:c16="http://schemas.microsoft.com/office/drawing/2014/chart" uri="{C3380CC4-5D6E-409C-BE32-E72D297353CC}">
                <c16:uniqueId val="{00000003-14F4-4B27-921D-33E61599E33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4F4-4B27-921D-33E61599E33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4F4-4B27-921D-33E61599E33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14F4-4B27-921D-33E61599E33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14F4-4B27-921D-33E61599E33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14F4-4B27-921D-33E61599E33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14F4-4B27-921D-33E61599E33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Лист1!$A$2:$A$5</c:f>
              <c:strCache>
                <c:ptCount val="2"/>
                <c:pt idx="0">
                  <c:v>Да</c:v>
                </c:pt>
                <c:pt idx="1">
                  <c:v>Нет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66.400000000000006</c:v>
                </c:pt>
                <c:pt idx="1">
                  <c:v>35.6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4F4-4B27-921D-33E61599E33E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152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475115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409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6747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5894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150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515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8829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058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571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795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752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0916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0967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586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88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9119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447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225" y="0"/>
            <a:ext cx="9144224" cy="5143512"/>
            <a:chOff x="-225" y="0"/>
            <a:chExt cx="9144224" cy="5143512"/>
          </a:xfrm>
        </p:grpSpPr>
        <p:sp>
          <p:nvSpPr>
            <p:cNvPr id="11" name="Google Shape;11;p2"/>
            <p:cNvSpPr/>
            <p:nvPr/>
          </p:nvSpPr>
          <p:spPr>
            <a:xfrm>
              <a:off x="0" y="0"/>
              <a:ext cx="61002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-175" y="1541675"/>
              <a:ext cx="6870000" cy="206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8477595" y="4477088"/>
              <a:ext cx="666403" cy="666424"/>
              <a:chOff x="7996345" y="980275"/>
              <a:chExt cx="666403" cy="666424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042555" y="1541664"/>
              <a:ext cx="730045" cy="2060087"/>
              <a:chOff x="7022220" y="1541675"/>
              <a:chExt cx="666403" cy="1880499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7022220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7224547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426873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022220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7224547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7426873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7022220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7224547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7426873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7022220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7224547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426873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29199" y="1541675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7629199" y="1744017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7629199" y="1946358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7629224" y="2148699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7022220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224547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7426873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7022220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7224547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7426873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022220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7224547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7426873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7022220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7224547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7426873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629199" y="2351050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29199" y="2553392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7629199" y="27557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7629224" y="29580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022220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7224547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7426873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7022220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224547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7426873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7629199" y="3160433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7629224" y="3362774"/>
                <a:ext cx="59400" cy="59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2"/>
            <p:cNvGrpSpPr/>
            <p:nvPr/>
          </p:nvGrpSpPr>
          <p:grpSpPr>
            <a:xfrm>
              <a:off x="-225" y="2008293"/>
              <a:ext cx="301775" cy="1126923"/>
              <a:chOff x="-225" y="1987280"/>
              <a:chExt cx="318900" cy="1190873"/>
            </a:xfrm>
          </p:grpSpPr>
          <p:sp>
            <p:nvSpPr>
              <p:cNvPr id="72" name="Google Shape;72;p2"/>
              <p:cNvSpPr/>
              <p:nvPr/>
            </p:nvSpPr>
            <p:spPr>
              <a:xfrm>
                <a:off x="-175" y="1987280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-175" y="2255817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-175" y="2524353"/>
                <a:ext cx="318794" cy="11664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2"/>
            <p:cNvGrpSpPr/>
            <p:nvPr/>
          </p:nvGrpSpPr>
          <p:grpSpPr>
            <a:xfrm>
              <a:off x="8842175" y="668859"/>
              <a:ext cx="301822" cy="872807"/>
              <a:chOff x="-225" y="2255817"/>
              <a:chExt cx="318950" cy="922336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-175" y="2255817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-175" y="25243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-225" y="2792878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-225" y="3061453"/>
                <a:ext cx="318900" cy="11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2"/>
            <p:cNvGrpSpPr/>
            <p:nvPr/>
          </p:nvGrpSpPr>
          <p:grpSpPr>
            <a:xfrm>
              <a:off x="5798375" y="4270684"/>
              <a:ext cx="301822" cy="872807"/>
              <a:chOff x="1611209" y="2255817"/>
              <a:chExt cx="318950" cy="922336"/>
            </a:xfrm>
          </p:grpSpPr>
          <p:sp>
            <p:nvSpPr>
              <p:cNvPr id="83" name="Google Shape;83;p2"/>
              <p:cNvSpPr/>
              <p:nvPr/>
            </p:nvSpPr>
            <p:spPr>
              <a:xfrm>
                <a:off x="1611259" y="2255817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611259" y="25243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11209" y="2792878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11209" y="3061453"/>
                <a:ext cx="318900" cy="116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2"/>
            <p:cNvGrpSpPr/>
            <p:nvPr/>
          </p:nvGrpSpPr>
          <p:grpSpPr>
            <a:xfrm>
              <a:off x="685795" y="0"/>
              <a:ext cx="666403" cy="666424"/>
              <a:chOff x="7996345" y="980275"/>
              <a:chExt cx="666403" cy="666424"/>
            </a:xfrm>
          </p:grpSpPr>
          <p:sp>
            <p:nvSpPr>
              <p:cNvPr id="88" name="Google Shape;88;p2"/>
              <p:cNvSpPr/>
              <p:nvPr/>
            </p:nvSpPr>
            <p:spPr>
              <a:xfrm>
                <a:off x="7996345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8198672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8400998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7996345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8198672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8400998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7996345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8198672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400998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7996345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8198672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400998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603324" y="980275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8603324" y="1182617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8603324" y="1384958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8603349" y="1587299"/>
                <a:ext cx="59400" cy="594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4" name="Google Shape;104;p2"/>
          <p:cNvSpPr txBox="1">
            <a:spLocks noGrp="1"/>
          </p:cNvSpPr>
          <p:nvPr>
            <p:ph type="ctrTitle"/>
          </p:nvPr>
        </p:nvSpPr>
        <p:spPr>
          <a:xfrm>
            <a:off x="685800" y="1541675"/>
            <a:ext cx="5740200" cy="206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5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258" name="Google Shape;258;p5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5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5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" name="Google Shape;261;p5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262" name="Google Shape;262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" name="Google Shape;265;p5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5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5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5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5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5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5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5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5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283" name="Google Shape;283;p5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5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5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6" name="Google Shape;286;p5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"/>
          <p:cNvSpPr txBox="1">
            <a:spLocks noGrp="1"/>
          </p:cNvSpPr>
          <p:nvPr>
            <p:ph type="body" idx="1"/>
          </p:nvPr>
        </p:nvSpPr>
        <p:spPr>
          <a:xfrm>
            <a:off x="1199775" y="1599700"/>
            <a:ext cx="6650700" cy="288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/>
          </a:p>
        </p:txBody>
      </p:sp>
      <p:sp>
        <p:nvSpPr>
          <p:cNvPr id="288" name="Google Shape;288;p5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322;p7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323" name="Google Shape;323;p7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322375" y="664300"/>
              <a:ext cx="81819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6" name="Google Shape;326;p7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0" name="Google Shape;330;p7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331" name="Google Shape;331;p7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7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7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7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7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7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7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7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7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7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7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7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7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7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7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7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7" name="Google Shape;347;p7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7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7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1" name="Google Shape;351;p7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7"/>
          <p:cNvSpPr txBox="1">
            <a:spLocks noGrp="1"/>
          </p:cNvSpPr>
          <p:nvPr>
            <p:ph type="body" idx="1"/>
          </p:nvPr>
        </p:nvSpPr>
        <p:spPr>
          <a:xfrm>
            <a:off x="1172650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3" name="Google Shape;353;p7"/>
          <p:cNvSpPr txBox="1">
            <a:spLocks noGrp="1"/>
          </p:cNvSpPr>
          <p:nvPr>
            <p:ph type="body" idx="2"/>
          </p:nvPr>
        </p:nvSpPr>
        <p:spPr>
          <a:xfrm>
            <a:off x="5056888" y="1599700"/>
            <a:ext cx="3447300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9pPr>
          </a:lstStyle>
          <a:p>
            <a:endParaRPr/>
          </a:p>
        </p:txBody>
      </p:sp>
      <p:sp>
        <p:nvSpPr>
          <p:cNvPr id="354" name="Google Shape;354;p7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variant 1" type="blank">
  <p:cSld name="BLANK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11"/>
          <p:cNvGrpSpPr/>
          <p:nvPr/>
        </p:nvGrpSpPr>
        <p:grpSpPr>
          <a:xfrm>
            <a:off x="-207" y="0"/>
            <a:ext cx="9158157" cy="5149835"/>
            <a:chOff x="-207" y="0"/>
            <a:chExt cx="9158157" cy="5149835"/>
          </a:xfrm>
        </p:grpSpPr>
        <p:sp>
          <p:nvSpPr>
            <p:cNvPr id="455" name="Google Shape;455;p11"/>
            <p:cNvSpPr/>
            <p:nvPr/>
          </p:nvSpPr>
          <p:spPr>
            <a:xfrm>
              <a:off x="8504250" y="4489800"/>
              <a:ext cx="653700" cy="653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1"/>
            <p:cNvSpPr/>
            <p:nvPr/>
          </p:nvSpPr>
          <p:spPr>
            <a:xfrm>
              <a:off x="0" y="0"/>
              <a:ext cx="6537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7" name="Google Shape;457;p11"/>
            <p:cNvGrpSpPr/>
            <p:nvPr/>
          </p:nvGrpSpPr>
          <p:grpSpPr>
            <a:xfrm>
              <a:off x="-207" y="664293"/>
              <a:ext cx="155867" cy="653721"/>
              <a:chOff x="5385375" y="498300"/>
              <a:chExt cx="802200" cy="556500"/>
            </a:xfrm>
          </p:grpSpPr>
          <p:sp>
            <p:nvSpPr>
              <p:cNvPr id="458" name="Google Shape;458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1" name="Google Shape;461;p11"/>
            <p:cNvGrpSpPr/>
            <p:nvPr/>
          </p:nvGrpSpPr>
          <p:grpSpPr>
            <a:xfrm>
              <a:off x="322384" y="4483463"/>
              <a:ext cx="666347" cy="666373"/>
              <a:chOff x="7134700" y="414375"/>
              <a:chExt cx="501919" cy="501900"/>
            </a:xfrm>
          </p:grpSpPr>
          <p:sp>
            <p:nvSpPr>
              <p:cNvPr id="462" name="Google Shape;462;p11"/>
              <p:cNvSpPr/>
              <p:nvPr/>
            </p:nvSpPr>
            <p:spPr>
              <a:xfrm>
                <a:off x="71347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72871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74395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71347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72871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74395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71347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1"/>
              <p:cNvSpPr/>
              <p:nvPr/>
            </p:nvSpPr>
            <p:spPr>
              <a:xfrm>
                <a:off x="72871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1"/>
              <p:cNvSpPr/>
              <p:nvPr/>
            </p:nvSpPr>
            <p:spPr>
              <a:xfrm>
                <a:off x="74395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11"/>
              <p:cNvSpPr/>
              <p:nvPr/>
            </p:nvSpPr>
            <p:spPr>
              <a:xfrm>
                <a:off x="71347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72871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1"/>
              <p:cNvSpPr/>
              <p:nvPr/>
            </p:nvSpPr>
            <p:spPr>
              <a:xfrm>
                <a:off x="7439500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7591900" y="4143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1"/>
              <p:cNvSpPr/>
              <p:nvPr/>
            </p:nvSpPr>
            <p:spPr>
              <a:xfrm>
                <a:off x="7591900" y="5667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1"/>
              <p:cNvSpPr/>
              <p:nvPr/>
            </p:nvSpPr>
            <p:spPr>
              <a:xfrm>
                <a:off x="7591900" y="7191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7591919" y="871575"/>
                <a:ext cx="44700" cy="44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1"/>
            <p:cNvGrpSpPr/>
            <p:nvPr/>
          </p:nvGrpSpPr>
          <p:grpSpPr>
            <a:xfrm>
              <a:off x="8832384" y="670955"/>
              <a:ext cx="311815" cy="653721"/>
              <a:chOff x="5385375" y="498300"/>
              <a:chExt cx="802200" cy="556500"/>
            </a:xfrm>
          </p:grpSpPr>
          <p:sp>
            <p:nvSpPr>
              <p:cNvPr id="479" name="Google Shape;479;p11"/>
              <p:cNvSpPr/>
              <p:nvPr/>
            </p:nvSpPr>
            <p:spPr>
              <a:xfrm>
                <a:off x="5385375" y="4983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1"/>
              <p:cNvSpPr/>
              <p:nvPr/>
            </p:nvSpPr>
            <p:spPr>
              <a:xfrm>
                <a:off x="5385375" y="7269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5385375" y="955500"/>
                <a:ext cx="802200" cy="99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2" name="Google Shape;482;p1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61100" y="664300"/>
            <a:ext cx="7843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Barlow SemiBold"/>
              <a:buNone/>
              <a:defRPr sz="2600">
                <a:solidFill>
                  <a:schemeClr val="lt1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314800" y="1599700"/>
            <a:ext cx="7189500" cy="28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▪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▫"/>
              <a:defRPr sz="24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 rtl="0">
              <a:buNone/>
              <a:defRPr sz="13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7" r:id="rId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microsoft.com/office/2007/relationships/hdphoto" Target="../media/hdphoto3.wdp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microsoft.com/office/2007/relationships/hdphoto" Target="../media/hdphoto6.wdp"/><Relationship Id="rId5" Type="http://schemas.openxmlformats.org/officeDocument/2006/relationships/image" Target="../media/image9.png"/><Relationship Id="rId4" Type="http://schemas.microsoft.com/office/2007/relationships/hdphoto" Target="../media/hdphoto5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microsoft.com/office/2007/relationships/hdphoto" Target="../media/hdphoto8.wdp"/><Relationship Id="rId5" Type="http://schemas.openxmlformats.org/officeDocument/2006/relationships/image" Target="../media/image12.png"/><Relationship Id="rId4" Type="http://schemas.microsoft.com/office/2007/relationships/hdphoto" Target="../media/hdphoto7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9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Z</a:t>
            </a:r>
            <a:r>
              <a:rPr lang="ru-RU" dirty="0" err="1"/>
              <a:t>адач</a:t>
            </a:r>
            <a:r>
              <a:rPr lang="en-US" dirty="0"/>
              <a:t>Ok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913888"/>
            <a:ext cx="7228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bg1"/>
                </a:solidFill>
              </a:rPr>
              <a:t>Трекер</a:t>
            </a:r>
            <a:r>
              <a:rPr lang="ru-RU" sz="2400" dirty="0">
                <a:solidFill>
                  <a:schemeClr val="bg1"/>
                </a:solidFill>
              </a:rPr>
              <a:t> для семейных задач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Немного о нас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05634" y="1318000"/>
            <a:ext cx="7843200" cy="2890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Мосякин Владимир (</a:t>
            </a:r>
            <a:r>
              <a:rPr lang="en-US" sz="2800" dirty="0"/>
              <a:t>PM, Back-end) 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Четвергов Илья</a:t>
            </a:r>
            <a:r>
              <a:rPr lang="en-US" sz="2800" dirty="0"/>
              <a:t> (Analyst, Back-end, Sale)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Круглов Дмитрий </a:t>
            </a:r>
            <a:r>
              <a:rPr lang="en-US" sz="2800" dirty="0"/>
              <a:t>(</a:t>
            </a:r>
            <a:r>
              <a:rPr lang="ru-RU" sz="2800" dirty="0"/>
              <a:t> </a:t>
            </a:r>
            <a:r>
              <a:rPr lang="en-US" sz="2800" dirty="0"/>
              <a:t>Front-end, </a:t>
            </a:r>
            <a:r>
              <a:rPr lang="ru-RU" sz="2800" dirty="0"/>
              <a:t>Тех. писатель)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Беляев Алексей (</a:t>
            </a:r>
            <a:r>
              <a:rPr lang="en-US" sz="2800" dirty="0"/>
              <a:t>DevOps)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 err="1"/>
              <a:t>Лышова</a:t>
            </a:r>
            <a:r>
              <a:rPr lang="ru-RU" sz="2800" dirty="0"/>
              <a:t> Ксения </a:t>
            </a:r>
            <a:r>
              <a:rPr lang="en-US" sz="2800" dirty="0"/>
              <a:t>(Front-end, Designer)</a:t>
            </a:r>
            <a:endParaRPr lang="ru-RU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Зыков Александр </a:t>
            </a:r>
            <a:r>
              <a:rPr lang="en-US" sz="2800" dirty="0"/>
              <a:t>(Back-end)</a:t>
            </a:r>
            <a:endParaRPr lang="ru-RU" sz="28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idx="12"/>
          </p:nvPr>
        </p:nvSpPr>
        <p:spPr>
          <a:solidFill>
            <a:schemeClr val="accent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 smtClean="0">
                <a:solidFill>
                  <a:schemeClr val="bg1"/>
                </a:solidFill>
              </a:rPr>
              <a:t>2</a:t>
            </a:fld>
            <a:endParaRPr lang="e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42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Проблематика</a:t>
            </a:r>
            <a:endParaRPr dirty="0"/>
          </a:p>
        </p:txBody>
      </p:sp>
      <p:sp>
        <p:nvSpPr>
          <p:cNvPr id="523" name="Google Shape;523;p14"/>
          <p:cNvSpPr txBox="1">
            <a:spLocks noGrp="1"/>
          </p:cNvSpPr>
          <p:nvPr>
            <p:ph type="body" idx="1"/>
          </p:nvPr>
        </p:nvSpPr>
        <p:spPr>
          <a:xfrm>
            <a:off x="1139731" y="1611375"/>
            <a:ext cx="6081778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Самоорганизация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Распределение семейных обязанностей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Планирование совместного досуга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Поощрение детей </a:t>
            </a:r>
            <a:endParaRPr lang="en-US"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/>
              <a:t>.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3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AutoShape 2" descr="Диаграмма ответов в Формах. Вопрос: Ваш возраст. Количество ответов: 45 ответов."/>
          <p:cNvSpPr>
            <a:spLocks noChangeAspect="1" noChangeArrowheads="1"/>
          </p:cNvSpPr>
          <p:nvPr/>
        </p:nvSpPr>
        <p:spPr bwMode="auto">
          <a:xfrm>
            <a:off x="155575" y="84138"/>
            <a:ext cx="4273550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Задачи</a:t>
            </a:r>
            <a:endParaRPr dirty="0"/>
          </a:p>
        </p:txBody>
      </p:sp>
      <p:sp>
        <p:nvSpPr>
          <p:cNvPr id="523" name="Google Shape;523;p14"/>
          <p:cNvSpPr txBox="1">
            <a:spLocks noGrp="1"/>
          </p:cNvSpPr>
          <p:nvPr>
            <p:ph type="body" idx="1"/>
          </p:nvPr>
        </p:nvSpPr>
        <p:spPr>
          <a:xfrm>
            <a:off x="1205593" y="1467488"/>
            <a:ext cx="5726543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Реализовать календарь с общими задачами 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Реализовать магазин для участников группы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/>
              <a:t>Реализовать </a:t>
            </a:r>
            <a:r>
              <a:rPr lang="en-US" sz="2800" dirty="0"/>
              <a:t>“</a:t>
            </a:r>
            <a:r>
              <a:rPr lang="ru-RU" sz="2800" dirty="0"/>
              <a:t>умные</a:t>
            </a:r>
            <a:r>
              <a:rPr lang="en-US" sz="2800" dirty="0"/>
              <a:t>”</a:t>
            </a:r>
            <a:r>
              <a:rPr lang="ru-RU" sz="2800" dirty="0"/>
              <a:t> ИИ уведомления</a:t>
            </a:r>
            <a:endParaRPr lang="en-US" sz="28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/>
              <a:t>.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4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4" name="AutoShape 2" descr="Диаграмма ответов в Формах. Вопрос: Ваш возраст. Количество ответов: 45 ответов."/>
          <p:cNvSpPr>
            <a:spLocks noChangeAspect="1" noChangeArrowheads="1"/>
          </p:cNvSpPr>
          <p:nvPr/>
        </p:nvSpPr>
        <p:spPr bwMode="auto">
          <a:xfrm>
            <a:off x="155575" y="84138"/>
            <a:ext cx="4273550" cy="42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15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Подробнее об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>
          <a:solidFill>
            <a:schemeClr val="accent1"/>
          </a:solidFill>
          <a:ln>
            <a:solidFill>
              <a:schemeClr val="accent1"/>
            </a:solidFill>
          </a:ln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 smtClean="0">
                <a:solidFill>
                  <a:schemeClr val="bg1"/>
                </a:solidFill>
              </a:rPr>
              <a:t>5</a:t>
            </a:fld>
            <a:endParaRPr lang="en" dirty="0">
              <a:solidFill>
                <a:schemeClr val="bg1"/>
              </a:solidFill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921" y="3592299"/>
            <a:ext cx="4234616" cy="16335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96542" y="4147458"/>
            <a:ext cx="2913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Я без еды могу, а ты нет)) Зайди в магазин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746" y="2389970"/>
            <a:ext cx="4567431" cy="17619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53317" y="3026345"/>
            <a:ext cx="3258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Не уберёшь комнату, покажу твою историю поиска родителям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8" y="1130890"/>
            <a:ext cx="4567431" cy="17619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2526" y="1828800"/>
            <a:ext cx="2638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Мусор уже воняет так-то…</a:t>
            </a:r>
          </a:p>
        </p:txBody>
      </p:sp>
    </p:spTree>
    <p:extLst>
      <p:ext uri="{BB962C8B-B14F-4D97-AF65-F5344CB8AC3E}">
        <p14:creationId xmlns:p14="http://schemas.microsoft.com/office/powerpoint/2010/main" val="137074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Стек технологий</a:t>
            </a:r>
            <a:endParaRPr dirty="0"/>
          </a:p>
        </p:txBody>
      </p:sp>
      <p:sp>
        <p:nvSpPr>
          <p:cNvPr id="551" name="Google Shape;551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 err="1"/>
              <a:t>Kotlin</a:t>
            </a:r>
            <a:endParaRPr lang="en-US" sz="2800" dirty="0"/>
          </a:p>
          <a:p>
            <a:pPr lvl="0" algn="l" rtl="0">
              <a:spcBef>
                <a:spcPts val="6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2800" dirty="0" err="1"/>
              <a:t>Figma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Flutter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Room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Python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endParaRPr dirty="0"/>
          </a:p>
        </p:txBody>
      </p:sp>
      <p:sp>
        <p:nvSpPr>
          <p:cNvPr id="552" name="Google Shape;552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6</a:t>
            </a:fld>
            <a:endParaRPr dirty="0">
              <a:solidFill>
                <a:schemeClr val="bg1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990" y="1599700"/>
            <a:ext cx="2072690" cy="207269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667" b="100000" l="1778" r="98667">
                        <a14:foregroundMark x1="69333" y1="92889" x2="48444" y2="702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55224" y="1507225"/>
            <a:ext cx="2226575" cy="2226575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755309" y="1599700"/>
            <a:ext cx="1362724" cy="2044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7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8" name="Диаграмма 27"/>
          <p:cNvGraphicFramePr/>
          <p:nvPr>
            <p:extLst>
              <p:ext uri="{D42A27DB-BD31-4B8C-83A1-F6EECF244321}">
                <p14:modId xmlns:p14="http://schemas.microsoft.com/office/powerpoint/2010/main" val="3059929290"/>
              </p:ext>
            </p:extLst>
          </p:nvPr>
        </p:nvGraphicFramePr>
        <p:xfrm>
          <a:off x="2374284" y="1124326"/>
          <a:ext cx="7996789" cy="3869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Прямоугольник 28"/>
          <p:cNvSpPr/>
          <p:nvPr/>
        </p:nvSpPr>
        <p:spPr>
          <a:xfrm>
            <a:off x="649593" y="2071963"/>
            <a:ext cx="311855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Вы договариваетесь о распределении обязанностей? </a:t>
            </a:r>
          </a:p>
        </p:txBody>
      </p:sp>
    </p:spTree>
    <p:extLst>
      <p:ext uri="{BB962C8B-B14F-4D97-AF65-F5344CB8AC3E}">
        <p14:creationId xmlns:p14="http://schemas.microsoft.com/office/powerpoint/2010/main" val="405167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8</a:t>
            </a:fld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661100" y="1647088"/>
            <a:ext cx="31185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Если да, то как часто вы или кто-то забываете сделать что-то во время?</a:t>
            </a:r>
          </a:p>
        </p:txBody>
      </p:sp>
      <p:graphicFrame>
        <p:nvGraphicFramePr>
          <p:cNvPr id="10" name="Диаграмма 9"/>
          <p:cNvGraphicFramePr/>
          <p:nvPr>
            <p:extLst>
              <p:ext uri="{D42A27DB-BD31-4B8C-83A1-F6EECF244321}">
                <p14:modId xmlns:p14="http://schemas.microsoft.com/office/powerpoint/2010/main" val="2064072040"/>
              </p:ext>
            </p:extLst>
          </p:nvPr>
        </p:nvGraphicFramePr>
        <p:xfrm>
          <a:off x="2055260" y="1381500"/>
          <a:ext cx="7996789" cy="3869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398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9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56662329"/>
              </p:ext>
            </p:extLst>
          </p:nvPr>
        </p:nvGraphicFramePr>
        <p:xfrm>
          <a:off x="2552877" y="1318000"/>
          <a:ext cx="7996789" cy="3869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598701" y="1971700"/>
            <a:ext cx="31185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Пользуетесь ли вы каким-то приложением для совместного ведения быта? </a:t>
            </a:r>
          </a:p>
        </p:txBody>
      </p:sp>
    </p:spTree>
    <p:extLst>
      <p:ext uri="{BB962C8B-B14F-4D97-AF65-F5344CB8AC3E}">
        <p14:creationId xmlns:p14="http://schemas.microsoft.com/office/powerpoint/2010/main" val="328258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Анализ 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10</a:t>
            </a:fld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" name="Диаграмма 7"/>
          <p:cNvGraphicFramePr/>
          <p:nvPr>
            <p:extLst>
              <p:ext uri="{D42A27DB-BD31-4B8C-83A1-F6EECF244321}">
                <p14:modId xmlns:p14="http://schemas.microsoft.com/office/powerpoint/2010/main" val="3733486483"/>
              </p:ext>
            </p:extLst>
          </p:nvPr>
        </p:nvGraphicFramePr>
        <p:xfrm>
          <a:off x="1882682" y="1052360"/>
          <a:ext cx="8637814" cy="420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724304" y="1801544"/>
            <a:ext cx="311855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ru-RU" sz="2800" kern="1200" dirty="0">
                <a:solidFill>
                  <a:schemeClr val="tx1"/>
                </a:solidFill>
                <a:latin typeface="+mn-lt"/>
              </a:rPr>
              <a:t>Вам бы помогло приложение, которое бы отслеживало выполнение задач?</a:t>
            </a:r>
          </a:p>
        </p:txBody>
      </p:sp>
    </p:spTree>
    <p:extLst>
      <p:ext uri="{BB962C8B-B14F-4D97-AF65-F5344CB8AC3E}">
        <p14:creationId xmlns:p14="http://schemas.microsoft.com/office/powerpoint/2010/main" val="1834587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Монетизация</a:t>
            </a:r>
            <a:endParaRPr dirty="0"/>
          </a:p>
        </p:txBody>
      </p:sp>
      <p:sp>
        <p:nvSpPr>
          <p:cNvPr id="525" name="Google Shape;525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11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749940" y="3670757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3717251" y="3716806"/>
            <a:ext cx="486802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6888515" y="3382403"/>
            <a:ext cx="1235829" cy="1710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Google Shape;523;p14"/>
          <p:cNvSpPr txBox="1">
            <a:spLocks noGrp="1"/>
          </p:cNvSpPr>
          <p:nvPr>
            <p:ph type="body" idx="1"/>
          </p:nvPr>
        </p:nvSpPr>
        <p:spPr>
          <a:xfrm>
            <a:off x="796521" y="1449752"/>
            <a:ext cx="5166676" cy="289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</p:txBody>
      </p:sp>
      <p:sp>
        <p:nvSpPr>
          <p:cNvPr id="8" name="Google Shape;523;p14"/>
          <p:cNvSpPr txBox="1">
            <a:spLocks noGrp="1"/>
          </p:cNvSpPr>
          <p:nvPr>
            <p:ph type="body" idx="1"/>
          </p:nvPr>
        </p:nvSpPr>
        <p:spPr>
          <a:xfrm>
            <a:off x="1088078" y="1663928"/>
            <a:ext cx="5258346" cy="246184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indent="-457200">
              <a:buSzPct val="71000"/>
              <a:buFont typeface="Arial" panose="020B0604020202020204" pitchFamily="34" charset="0"/>
              <a:buChar char="•"/>
            </a:pPr>
            <a:r>
              <a:rPr lang="ru-RU" sz="2800" dirty="0"/>
              <a:t>Встроенная реклама </a:t>
            </a:r>
          </a:p>
          <a:p>
            <a:pPr indent="-457200">
              <a:buSzPct val="71000"/>
              <a:buFont typeface="Arial" panose="020B0604020202020204" pitchFamily="34" charset="0"/>
              <a:buChar char="•"/>
            </a:pPr>
            <a:r>
              <a:rPr lang="ru-RU" sz="2800" dirty="0"/>
              <a:t>Подписка, которая расширяет возможности и отключает рекламу</a:t>
            </a:r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indent="0">
              <a:buClr>
                <a:schemeClr val="dk1"/>
              </a:buClr>
              <a:buSzPts val="1100"/>
              <a:buNone/>
            </a:pPr>
            <a:endParaRPr lang="ru-RU" sz="24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1785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xfrm>
            <a:off x="8504254" y="4489800"/>
            <a:ext cx="653700" cy="653700"/>
          </a:xfr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ru-RU" sz="3200" dirty="0">
                <a:solidFill>
                  <a:schemeClr val="bg1"/>
                </a:solidFill>
              </a:rPr>
              <a:t>12</a:t>
            </a:r>
            <a:endParaRPr lang="en" dirty="0">
              <a:solidFill>
                <a:schemeClr val="bg1"/>
              </a:solidFill>
            </a:endParaRPr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E901662A-D2C5-42A5-8FE7-AACCA6DCF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819452"/>
              </p:ext>
            </p:extLst>
          </p:nvPr>
        </p:nvGraphicFramePr>
        <p:xfrm>
          <a:off x="1350169" y="147558"/>
          <a:ext cx="7093744" cy="4906665"/>
        </p:xfrm>
        <a:graphic>
          <a:graphicData uri="http://schemas.openxmlformats.org/drawingml/2006/table">
            <a:tbl>
              <a:tblPr firstRow="1" bandRow="1">
                <a:tableStyleId>{2B065CFF-0479-4DF6-A662-3959B2AC70BA}</a:tableStyleId>
              </a:tblPr>
              <a:tblGrid>
                <a:gridCol w="2521744">
                  <a:extLst>
                    <a:ext uri="{9D8B030D-6E8A-4147-A177-3AD203B41FA5}">
                      <a16:colId xmlns:a16="http://schemas.microsoft.com/office/drawing/2014/main" val="651916450"/>
                    </a:ext>
                  </a:extLst>
                </a:gridCol>
                <a:gridCol w="1278731">
                  <a:extLst>
                    <a:ext uri="{9D8B030D-6E8A-4147-A177-3AD203B41FA5}">
                      <a16:colId xmlns:a16="http://schemas.microsoft.com/office/drawing/2014/main" val="2285644522"/>
                    </a:ext>
                  </a:extLst>
                </a:gridCol>
                <a:gridCol w="1557337">
                  <a:extLst>
                    <a:ext uri="{9D8B030D-6E8A-4147-A177-3AD203B41FA5}">
                      <a16:colId xmlns:a16="http://schemas.microsoft.com/office/drawing/2014/main" val="607330779"/>
                    </a:ext>
                  </a:extLst>
                </a:gridCol>
                <a:gridCol w="1735932">
                  <a:extLst>
                    <a:ext uri="{9D8B030D-6E8A-4147-A177-3AD203B41FA5}">
                      <a16:colId xmlns:a16="http://schemas.microsoft.com/office/drawing/2014/main" val="2050114455"/>
                    </a:ext>
                  </a:extLst>
                </a:gridCol>
              </a:tblGrid>
              <a:tr h="398918">
                <a:tc>
                  <a:txBody>
                    <a:bodyPr/>
                    <a:lstStyle/>
                    <a:p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Cozi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FamilyWall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Za</a:t>
                      </a:r>
                      <a:r>
                        <a:rPr lang="ru-RU" sz="2000" dirty="0"/>
                        <a:t>дач</a:t>
                      </a:r>
                      <a:r>
                        <a:rPr lang="en-US" sz="2000" dirty="0"/>
                        <a:t>OK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01291"/>
                  </a:ext>
                </a:extLst>
              </a:tr>
              <a:tr h="1012637">
                <a:tc>
                  <a:txBody>
                    <a:bodyPr/>
                    <a:lstStyle/>
                    <a:p>
                      <a:r>
                        <a:rPr lang="ru-RU" sz="2000"/>
                        <a:t>Наличие ИИ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2538477"/>
                  </a:ext>
                </a:extLst>
              </a:tr>
              <a:tr h="1012637">
                <a:tc>
                  <a:txBody>
                    <a:bodyPr/>
                    <a:lstStyle/>
                    <a:p>
                      <a:r>
                        <a:rPr lang="ru-RU" sz="2000" dirty="0"/>
                        <a:t>Доступность в РФ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-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365065"/>
                  </a:ext>
                </a:extLst>
              </a:tr>
              <a:tr h="705777">
                <a:tc>
                  <a:txBody>
                    <a:bodyPr/>
                    <a:lstStyle/>
                    <a:p>
                      <a:r>
                        <a:rPr lang="ru-RU" sz="2000"/>
                        <a:t>Система поощрения 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-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671579"/>
                  </a:ext>
                </a:extLst>
              </a:tr>
              <a:tr h="705777">
                <a:tc>
                  <a:txBody>
                    <a:bodyPr/>
                    <a:lstStyle/>
                    <a:p>
                      <a:r>
                        <a:rPr lang="ru-RU" sz="2000"/>
                        <a:t>Статистика 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322368"/>
                  </a:ext>
                </a:extLst>
              </a:tr>
              <a:tr h="1012637">
                <a:tc>
                  <a:txBody>
                    <a:bodyPr/>
                    <a:lstStyle/>
                    <a:p>
                      <a:r>
                        <a:rPr lang="ru-RU" sz="2000" dirty="0"/>
                        <a:t>Отслеживание покупок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/>
                        <a:t>+</a:t>
                      </a:r>
                      <a:endParaRPr lang="ru-RU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4498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219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13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689811" y="96407"/>
            <a:ext cx="3012074" cy="43973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>
                <a:latin typeface="Barlow SemiBold"/>
                <a:ea typeface="Barlow SemiBold"/>
                <a:cs typeface="Barlow SemiBold"/>
                <a:sym typeface="Barlow SemiBold"/>
              </a:rPr>
              <a:t>Главный экран авторизованного и не авторизованного пользователя </a:t>
            </a:r>
            <a:endParaRPr sz="28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3200" y1="94409" x2="45280" y2="4633"/>
                        <a14:foregroundMark x1="54720" y1="5591" x2="53440" y2="91534"/>
                        <a14:foregroundMark x1="53760" y1="94249" x2="91040" y2="95847"/>
                        <a14:foregroundMark x1="40320" y1="16613" x2="10720" y2="8466"/>
                        <a14:foregroundMark x1="3040" y1="5911" x2="2240" y2="91214"/>
                        <a14:foregroundMark x1="10560" y1="91853" x2="15040" y2="87061"/>
                        <a14:foregroundMark x1="62240" y1="92173" x2="63840" y2="86422"/>
                        <a14:foregroundMark x1="60800" y1="16613" x2="84480" y2="11342"/>
                      </a14:backgroundRemoval>
                    </a14:imgEffect>
                  </a14:imgLayer>
                </a14:imgProps>
              </a:ext>
            </a:extLst>
          </a:blip>
          <a:srcRect r="50779"/>
          <a:stretch/>
        </p:blipFill>
        <p:spPr>
          <a:xfrm>
            <a:off x="6023808" y="96057"/>
            <a:ext cx="2480446" cy="504744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37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0723" y="96057"/>
            <a:ext cx="2568380" cy="501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14</a:t>
            </a:fld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795989" y="353329"/>
            <a:ext cx="3868880" cy="438313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Витрина магазина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800" dirty="0"/>
              <a:t>(</a:t>
            </a:r>
            <a:r>
              <a:rPr lang="ru-RU" sz="2800" dirty="0"/>
              <a:t>администратор)</a:t>
            </a:r>
            <a:endParaRPr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29688" y1="3673" x2="65625" y2="4739"/>
                        <a14:foregroundMark x1="91741" y1="5213" x2="91741" y2="93720"/>
                        <a14:foregroundMark x1="91518" y1="94194" x2="56027" y2="97630"/>
                        <a14:foregroundMark x1="83929" y1="98104" x2="18750" y2="97512"/>
                        <a14:foregroundMark x1="5134" y1="91943" x2="6027" y2="5806"/>
                        <a14:foregroundMark x1="7143" y1="5332" x2="26339" y2="2133"/>
                        <a14:foregroundMark x1="28571" y1="2014" x2="9152" y2="2370"/>
                        <a14:foregroundMark x1="10491" y1="2370" x2="8036" y2="94787"/>
                        <a14:foregroundMark x1="5134" y1="94550" x2="18973" y2="97867"/>
                        <a14:foregroundMark x1="93304" y1="9716" x2="93527" y2="89455"/>
                        <a14:foregroundMark x1="91964" y1="6280" x2="88170" y2="1896"/>
                        <a14:foregroundMark x1="87054" y1="2133" x2="66518" y2="1540"/>
                        <a14:foregroundMark x1="76563" y1="1303" x2="15625" y2="1185"/>
                        <a14:foregroundMark x1="4241" y1="8768" x2="3571" y2="88981"/>
                        <a14:foregroundMark x1="18973" y1="98934" x2="82366" y2="98578"/>
                        <a14:foregroundMark x1="6696" y1="81280" x2="7589" y2="16114"/>
                        <a14:foregroundMark x1="90402" y1="7346" x2="90402" y2="90758"/>
                        <a14:foregroundMark x1="29241" y1="32227" x2="43973" y2="30569"/>
                        <a14:foregroundMark x1="27232" y1="33294" x2="44866" y2="33768"/>
                        <a14:foregroundMark x1="62277" y1="43365" x2="75000" y2="61730"/>
                        <a14:foregroundMark x1="15402" y1="68483" x2="42188" y2="77014"/>
                        <a14:foregroundMark x1="20313" y1="96801" x2="62946" y2="9644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617" y="135347"/>
            <a:ext cx="2586513" cy="487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7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15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685801" y="353329"/>
            <a:ext cx="2900362" cy="437107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Экран создания задач и наград  (администратор) </a:t>
            </a:r>
            <a:endParaRPr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718" y1="95026" x2="5369" y2="4803"/>
                        <a14:foregroundMark x1="5369" y1="5832" x2="63087" y2="5832"/>
                        <a14:foregroundMark x1="14094" y1="8405" x2="78859" y2="11664"/>
                        <a14:foregroundMark x1="80201" y1="3774" x2="92617" y2="39280"/>
                        <a14:foregroundMark x1="93960" y1="38765" x2="93289" y2="95197"/>
                        <a14:foregroundMark x1="92282" y1="95540" x2="34564" y2="98456"/>
                        <a14:foregroundMark x1="33221" y1="98285" x2="11074" y2="97084"/>
                        <a14:foregroundMark x1="5705" y1="95540" x2="4698" y2="60892"/>
                        <a14:foregroundMark x1="3020" y1="89537" x2="3691" y2="58834"/>
                        <a14:foregroundMark x1="15772" y1="10635" x2="67114" y2="14065"/>
                        <a14:foregroundMark x1="16443" y1="12864" x2="22819" y2="11664"/>
                        <a14:foregroundMark x1="95973" y1="79588" x2="95973" y2="93310"/>
                        <a14:foregroundMark x1="61409" y1="98628" x2="90268" y2="96913"/>
                        <a14:foregroundMark x1="83221" y1="98971" x2="22819" y2="98456"/>
                        <a14:foregroundMark x1="85570" y1="5146" x2="90604" y2="14237"/>
                        <a14:foregroundMark x1="94966" y1="8233" x2="94966" y2="43568"/>
                        <a14:foregroundMark x1="93960" y1="6346" x2="89262" y2="2573"/>
                        <a14:foregroundMark x1="84564" y1="2058" x2="10738" y2="2916"/>
                        <a14:foregroundMark x1="96644" y1="10292" x2="95973" y2="80274"/>
                        <a14:foregroundMark x1="56711" y1="16810" x2="7383" y2="11321"/>
                        <a14:foregroundMark x1="7047" y1="12521" x2="8054" y2="40652"/>
                        <a14:foregroundMark x1="4027" y1="9777" x2="4027" y2="70326"/>
                        <a14:foregroundMark x1="92282" y1="7033" x2="93289" y2="40137"/>
                        <a14:foregroundMark x1="78523" y1="1887" x2="15772" y2="1544"/>
                        <a14:foregroundMark x1="97651" y1="31904" x2="97651" y2="21784"/>
                        <a14:foregroundMark x1="55705" y1="96741" x2="16107" y2="96055"/>
                        <a14:backgroundMark x1="1342" y1="89537" x2="1007" y2="80961"/>
                        <a14:backgroundMark x1="59396" y1="99485" x2="81879" y2="99485"/>
                        <a14:backgroundMark x1="2685" y1="89880" x2="2685" y2="898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67663" y="132324"/>
            <a:ext cx="2536590" cy="496252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7979" y1="38210" x2="9309" y2="63210"/>
                        <a14:foregroundMark x1="11436" y1="42898" x2="11436" y2="78693"/>
                        <a14:foregroundMark x1="16755" y1="13210" x2="82181" y2="12784"/>
                        <a14:foregroundMark x1="8777" y1="35511" x2="11436" y2="5540"/>
                        <a14:foregroundMark x1="14096" y1="4972" x2="75000" y2="35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70" t="-1" b="751"/>
          <a:stretch/>
        </p:blipFill>
        <p:spPr>
          <a:xfrm>
            <a:off x="3333275" y="48653"/>
            <a:ext cx="2717378" cy="504619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321" y="3909060"/>
            <a:ext cx="1872126" cy="51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16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703247" y="334279"/>
            <a:ext cx="2796874" cy="437107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Экран задач</a:t>
            </a:r>
            <a:r>
              <a:rPr lang="ru-RU" sz="3600" dirty="0"/>
              <a:t> </a:t>
            </a:r>
            <a:r>
              <a:rPr lang="ru-RU" sz="2800" dirty="0"/>
              <a:t>(администратор)</a:t>
            </a:r>
            <a:endParaRPr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9242" y1="35480" x2="10900" y2="61490"/>
                        <a14:foregroundMark x1="12085" y1="65909" x2="11848" y2="36490"/>
                        <a14:foregroundMark x1="18246" y1="13384" x2="83886" y2="11742"/>
                        <a14:foregroundMark x1="93839" y1="8965" x2="92417" y2="94066"/>
                        <a14:foregroundMark x1="10190" y1="35606" x2="9479" y2="8965"/>
                        <a14:foregroundMark x1="17299" y1="8333" x2="75829" y2="14394"/>
                        <a14:foregroundMark x1="94076" y1="40278" x2="94313" y2="92551"/>
                        <a14:foregroundMark x1="17536" y1="96086" x2="83649" y2="96717"/>
                        <a14:foregroundMark x1="17062" y1="97096" x2="9953" y2="92803"/>
                        <a14:foregroundMark x1="10900" y1="8333" x2="19431" y2="4672"/>
                        <a14:foregroundMark x1="20616" y1="4293" x2="86256" y2="4672"/>
                        <a14:foregroundMark x1="95972" y1="32197" x2="96209" y2="26515"/>
                        <a14:foregroundMark x1="17299" y1="14646" x2="27725" y2="14773"/>
                        <a14:foregroundMark x1="33175" y1="5934" x2="88863" y2="7197"/>
                        <a14:foregroundMark x1="19194" y1="3535" x2="87204" y2="3662"/>
                        <a14:foregroundMark x1="86967" y1="3535" x2="92891" y2="8712"/>
                        <a14:foregroundMark x1="92180" y1="11237" x2="85545" y2="16414"/>
                        <a14:foregroundMark x1="91469" y1="16288" x2="91706" y2="34722"/>
                        <a14:foregroundMark x1="8057" y1="12374" x2="8294" y2="36869"/>
                        <a14:foregroundMark x1="11848" y1="34975" x2="12322" y2="15025"/>
                        <a14:foregroundMark x1="95024" y1="39899" x2="95024" y2="12121"/>
                        <a14:foregroundMark x1="91706" y1="35101" x2="91706" y2="63763"/>
                        <a14:foregroundMark x1="91469" y1="64394" x2="91469" y2="78914"/>
                        <a14:foregroundMark x1="18720" y1="97980" x2="85071" y2="97980"/>
                        <a14:foregroundMark x1="11137" y1="92172" x2="9953" y2="62753"/>
                        <a14:foregroundMark x1="12796" y1="88763" x2="12085" y2="66793"/>
                        <a14:foregroundMark x1="8531" y1="91162" x2="8531" y2="61742"/>
                        <a14:foregroundMark x1="8531" y1="61237" x2="8768" y2="40278"/>
                        <a14:foregroundMark x1="8057" y1="34470" x2="7820" y2="28409"/>
                        <a14:foregroundMark x1="23934" y1="16793" x2="82701" y2="15909"/>
                        <a14:backgroundMark x1="97867" y1="26136" x2="97156" y2="347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759" y="0"/>
            <a:ext cx="2740602" cy="51435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12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998" y="65784"/>
            <a:ext cx="2753135" cy="507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8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3200">
                <a:solidFill>
                  <a:schemeClr val="bg1"/>
                </a:solidFill>
              </a:rPr>
              <a:t>17</a:t>
            </a:fld>
            <a:endParaRPr dirty="0">
              <a:solidFill>
                <a:schemeClr val="bg1"/>
              </a:solidFill>
            </a:endParaRPr>
          </a:p>
        </p:txBody>
      </p:sp>
      <p:sp>
        <p:nvSpPr>
          <p:cNvPr id="716" name="Google Shape;716;p32"/>
          <p:cNvSpPr txBox="1">
            <a:spLocks noGrp="1"/>
          </p:cNvSpPr>
          <p:nvPr>
            <p:ph type="body" idx="4294967295"/>
          </p:nvPr>
        </p:nvSpPr>
        <p:spPr>
          <a:xfrm>
            <a:off x="795989" y="353329"/>
            <a:ext cx="2990199" cy="437107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dirty="0"/>
              <a:t>Экран настроек</a:t>
            </a:r>
            <a:endParaRPr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259" b="99622" l="3774" r="9646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-32886"/>
            <a:ext cx="274665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1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9"/>
          <p:cNvSpPr txBox="1">
            <a:spLocks noGrp="1"/>
          </p:cNvSpPr>
          <p:nvPr>
            <p:ph type="ctrTitle" idx="4294967295"/>
          </p:nvPr>
        </p:nvSpPr>
        <p:spPr>
          <a:xfrm>
            <a:off x="718097" y="1699243"/>
            <a:ext cx="5131964" cy="116046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dirty="0">
                <a:solidFill>
                  <a:schemeClr val="accent1"/>
                </a:solidFill>
              </a:rPr>
              <a:t>Спасибо за внимание </a:t>
            </a:r>
            <a:endParaRPr sz="7200" dirty="0">
              <a:solidFill>
                <a:schemeClr val="accent1"/>
              </a:solidFill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7143443" y="3303311"/>
            <a:ext cx="312610" cy="29849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0" name="Google Shape;560;p19"/>
          <p:cNvGrpSpPr/>
          <p:nvPr/>
        </p:nvGrpSpPr>
        <p:grpSpPr>
          <a:xfrm>
            <a:off x="6755340" y="1626985"/>
            <a:ext cx="1339230" cy="1339557"/>
            <a:chOff x="6654650" y="3665275"/>
            <a:chExt cx="409100" cy="409125"/>
          </a:xfrm>
        </p:grpSpPr>
        <p:sp>
          <p:nvSpPr>
            <p:cNvPr id="561" name="Google Shape;561;p19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9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3" name="Google Shape;563;p19"/>
          <p:cNvGrpSpPr/>
          <p:nvPr/>
        </p:nvGrpSpPr>
        <p:grpSpPr>
          <a:xfrm rot="1056911">
            <a:off x="5464610" y="2680280"/>
            <a:ext cx="884776" cy="884897"/>
            <a:chOff x="570875" y="4322250"/>
            <a:chExt cx="443300" cy="443325"/>
          </a:xfrm>
        </p:grpSpPr>
        <p:sp>
          <p:nvSpPr>
            <p:cNvPr id="564" name="Google Shape;564;p19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9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9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9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8" name="Google Shape;568;p19"/>
          <p:cNvSpPr/>
          <p:nvPr/>
        </p:nvSpPr>
        <p:spPr>
          <a:xfrm rot="2466730">
            <a:off x="5564068" y="1886788"/>
            <a:ext cx="434316" cy="41469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9"/>
          <p:cNvSpPr/>
          <p:nvPr/>
        </p:nvSpPr>
        <p:spPr>
          <a:xfrm rot="-1609361">
            <a:off x="6199245" y="2147725"/>
            <a:ext cx="312542" cy="298425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9"/>
          <p:cNvSpPr/>
          <p:nvPr/>
        </p:nvSpPr>
        <p:spPr>
          <a:xfrm rot="2926229">
            <a:off x="8094370" y="2384149"/>
            <a:ext cx="234084" cy="223511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9"/>
          <p:cNvSpPr/>
          <p:nvPr/>
        </p:nvSpPr>
        <p:spPr>
          <a:xfrm rot="-1609084">
            <a:off x="7120324" y="886921"/>
            <a:ext cx="210884" cy="201359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BA6DB3-4556-4F39-811E-6B70AED5185B}"/>
              </a:ext>
            </a:extLst>
          </p:cNvPr>
          <p:cNvSpPr/>
          <p:nvPr/>
        </p:nvSpPr>
        <p:spPr>
          <a:xfrm>
            <a:off x="7200900" y="4040042"/>
            <a:ext cx="2000250" cy="11111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Lodovico template">
  <a:themeElements>
    <a:clrScheme name="Обычная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2997</TotalTime>
  <Words>262</Words>
  <Application>Microsoft Office PowerPoint</Application>
  <PresentationFormat>Экран (16:9)</PresentationFormat>
  <Paragraphs>93</Paragraphs>
  <Slides>18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Barlow Light</vt:lpstr>
      <vt:lpstr>Barlow SemiBold</vt:lpstr>
      <vt:lpstr>Arial</vt:lpstr>
      <vt:lpstr>Lodovico template</vt:lpstr>
      <vt:lpstr>ZадачOk</vt:lpstr>
      <vt:lpstr>Немного о нас</vt:lpstr>
      <vt:lpstr>Проблематика</vt:lpstr>
      <vt:lpstr>Задачи</vt:lpstr>
      <vt:lpstr>Подробнее об ИИ</vt:lpstr>
      <vt:lpstr>Стек технологий</vt:lpstr>
      <vt:lpstr>Анализ </vt:lpstr>
      <vt:lpstr>Анализ </vt:lpstr>
      <vt:lpstr>Анализ </vt:lpstr>
      <vt:lpstr>Анализ </vt:lpstr>
      <vt:lpstr>Монетизация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ZaдачOk</dc:title>
  <dc:creator>Илья</dc:creator>
  <cp:lastModifiedBy>Volodya Limov</cp:lastModifiedBy>
  <cp:revision>63</cp:revision>
  <dcterms:modified xsi:type="dcterms:W3CDTF">2025-03-29T19:42:00Z</dcterms:modified>
</cp:coreProperties>
</file>